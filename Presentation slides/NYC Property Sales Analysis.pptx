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entury Gothic Paneuropean Bold" charset="1" panose="020B0702020202020204"/>
      <p:regular r:id="rId16"/>
    </p:embeddedFont>
    <p:embeddedFont>
      <p:font typeface="Century Gothic Paneuropean" charset="1" panose="020B0502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78138" y="2913723"/>
            <a:ext cx="13018493" cy="315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30"/>
              </a:lnSpc>
            </a:pPr>
            <a:r>
              <a:rPr lang="en-US" b="true" sz="9093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NYC </a:t>
            </a:r>
            <a:r>
              <a:rPr lang="en-US" b="true" sz="9093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PROPERTY SALES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82925" y="6512253"/>
            <a:ext cx="8522150" cy="920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2"/>
              </a:lnSpc>
            </a:pPr>
            <a:r>
              <a:rPr lang="en-US" sz="537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By Noora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875411" y="1712108"/>
            <a:ext cx="8537178" cy="1267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89"/>
              </a:lnSpc>
            </a:pPr>
            <a:r>
              <a:rPr lang="en-US" b="true" sz="74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</a:t>
            </a:r>
            <a:r>
              <a:rPr lang="en-US" b="true" sz="74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CENARIO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66618" y="3983917"/>
            <a:ext cx="13158189" cy="334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4"/>
              </a:lnSpc>
            </a:pPr>
            <a:r>
              <a:rPr lang="en-US" sz="3845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 real estate analytics company is preparing a market report on property sales across New York City using transaction data from September 2016 to August 2017. The results will be used to provide stakeholders with a view of patterns in the NYC property market.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876300"/>
            <a:ext cx="8537178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373545"/>
            <a:ext cx="16230600" cy="4441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How do property sale prices vary across New York City boroughs?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Which NYC neighborhoods had the highest number of property sales?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Which building ages had the highest number of property sales?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How did the number of property sales change each month?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Which type of property had more sales: residential or commercial?</a:t>
            </a:r>
          </a:p>
          <a:p>
            <a:pPr algn="l">
              <a:lnSpc>
                <a:spcPts val="5096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083261" y="2400777"/>
            <a:ext cx="9722817" cy="7231411"/>
          </a:xfrm>
          <a:custGeom>
            <a:avLst/>
            <a:gdLst/>
            <a:ahLst/>
            <a:cxnLst/>
            <a:rect r="r" b="b" t="t" l="l"/>
            <a:pathLst>
              <a:path h="7231411" w="9722817">
                <a:moveTo>
                  <a:pt x="0" y="0"/>
                </a:moveTo>
                <a:lnTo>
                  <a:pt x="9722817" y="0"/>
                </a:lnTo>
                <a:lnTo>
                  <a:pt x="9722817" y="7231411"/>
                </a:lnTo>
                <a:lnTo>
                  <a:pt x="0" y="7231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228562" y="412472"/>
            <a:ext cx="13830875" cy="149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8369" indent="-464185" lvl="1">
              <a:lnSpc>
                <a:spcPts val="6019"/>
              </a:lnSpc>
              <a:buAutoNum type="arabicPeriod" startAt="1"/>
            </a:pPr>
            <a:r>
              <a:rPr lang="en-US" sz="42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HOW DO PROPERTY SALE PR</a:t>
            </a:r>
            <a:r>
              <a:rPr lang="en-US" sz="42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ICES VARY ACROSS NEW YORK CITY BOROUGHS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121619" y="2468059"/>
            <a:ext cx="12048186" cy="7071986"/>
          </a:xfrm>
          <a:custGeom>
            <a:avLst/>
            <a:gdLst/>
            <a:ahLst/>
            <a:cxnLst/>
            <a:rect r="r" b="b" t="t" l="l"/>
            <a:pathLst>
              <a:path h="7071986" w="12048186">
                <a:moveTo>
                  <a:pt x="0" y="0"/>
                </a:moveTo>
                <a:lnTo>
                  <a:pt x="12048186" y="0"/>
                </a:lnTo>
                <a:lnTo>
                  <a:pt x="12048186" y="7071986"/>
                </a:lnTo>
                <a:lnTo>
                  <a:pt x="0" y="70719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898810" y="412472"/>
            <a:ext cx="14490380" cy="149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8369" indent="-464185" lvl="1">
              <a:lnSpc>
                <a:spcPts val="6019"/>
              </a:lnSpc>
              <a:buAutoNum type="arabicPeriod" startAt="1"/>
            </a:pPr>
            <a:r>
              <a:rPr lang="en-US" sz="42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WHICH NYC NEIGHBORHOODS HAD THE H</a:t>
            </a:r>
            <a:r>
              <a:rPr lang="en-US" sz="42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IGHEST NUMBER OF PROPERTY SALES?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009182" y="2204260"/>
            <a:ext cx="10273060" cy="7382747"/>
          </a:xfrm>
          <a:custGeom>
            <a:avLst/>
            <a:gdLst/>
            <a:ahLst/>
            <a:cxnLst/>
            <a:rect r="r" b="b" t="t" l="l"/>
            <a:pathLst>
              <a:path h="7382747" w="10273060">
                <a:moveTo>
                  <a:pt x="0" y="0"/>
                </a:moveTo>
                <a:lnTo>
                  <a:pt x="10273060" y="0"/>
                </a:lnTo>
                <a:lnTo>
                  <a:pt x="10273060" y="7382747"/>
                </a:lnTo>
                <a:lnTo>
                  <a:pt x="0" y="73827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228562" y="412472"/>
            <a:ext cx="14242355" cy="149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8369" indent="-464185" lvl="1">
              <a:lnSpc>
                <a:spcPts val="6019"/>
              </a:lnSpc>
              <a:buAutoNum type="arabicPeriod" startAt="1"/>
            </a:pPr>
            <a:r>
              <a:rPr lang="en-US" sz="42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WHICH BUILDING AGES HAD THE H</a:t>
            </a:r>
            <a:r>
              <a:rPr lang="en-US" sz="42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IGHEST NUMBER OF PROPERTY SALES?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115511" y="2351916"/>
            <a:ext cx="10060403" cy="7304272"/>
          </a:xfrm>
          <a:custGeom>
            <a:avLst/>
            <a:gdLst/>
            <a:ahLst/>
            <a:cxnLst/>
            <a:rect r="r" b="b" t="t" l="l"/>
            <a:pathLst>
              <a:path h="7304272" w="10060403">
                <a:moveTo>
                  <a:pt x="0" y="0"/>
                </a:moveTo>
                <a:lnTo>
                  <a:pt x="10060403" y="0"/>
                </a:lnTo>
                <a:lnTo>
                  <a:pt x="10060403" y="7304272"/>
                </a:lnTo>
                <a:lnTo>
                  <a:pt x="0" y="73042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228562" y="412472"/>
            <a:ext cx="13830875" cy="149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8369" indent="-464185" lvl="1">
              <a:lnSpc>
                <a:spcPts val="6019"/>
              </a:lnSpc>
              <a:buAutoNum type="arabicPeriod" startAt="1"/>
            </a:pPr>
            <a:r>
              <a:rPr lang="en-US" sz="42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HOW DID THE NUMBER OF PROPERTY SALES </a:t>
            </a:r>
            <a:r>
              <a:rPr lang="en-US" sz="42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CHANGE EACH MONTH?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715941" y="2416776"/>
            <a:ext cx="10151992" cy="6873745"/>
          </a:xfrm>
          <a:custGeom>
            <a:avLst/>
            <a:gdLst/>
            <a:ahLst/>
            <a:cxnLst/>
            <a:rect r="r" b="b" t="t" l="l"/>
            <a:pathLst>
              <a:path h="6873745" w="10151992">
                <a:moveTo>
                  <a:pt x="0" y="0"/>
                </a:moveTo>
                <a:lnTo>
                  <a:pt x="10151992" y="0"/>
                </a:lnTo>
                <a:lnTo>
                  <a:pt x="10151992" y="6873744"/>
                </a:lnTo>
                <a:lnTo>
                  <a:pt x="0" y="68737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228562" y="412472"/>
            <a:ext cx="13830875" cy="149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8369" indent="-464185" lvl="1">
              <a:lnSpc>
                <a:spcPts val="6019"/>
              </a:lnSpc>
              <a:buAutoNum type="arabicPeriod" startAt="1"/>
            </a:pPr>
            <a:r>
              <a:rPr lang="en-US" sz="42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WHICH TYPE OF PROPERTY HAD MORE SALES: RES</a:t>
            </a:r>
            <a:r>
              <a:rPr lang="en-US" sz="42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IDENTIAL OR COMMERCIAL?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1690069"/>
            <a:ext cx="8537178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32124" y="3954895"/>
            <a:ext cx="16227176" cy="4903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7146" indent="-433573" lvl="1">
              <a:lnSpc>
                <a:spcPts val="5622"/>
              </a:lnSpc>
              <a:buFont typeface="Arial"/>
              <a:buChar char="•"/>
            </a:pPr>
            <a:r>
              <a:rPr lang="en-US" sz="401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Analyze time periods because sales activity changes throughout the year.</a:t>
            </a:r>
          </a:p>
          <a:p>
            <a:pPr algn="l" marL="867146" indent="-433573" lvl="1">
              <a:lnSpc>
                <a:spcPts val="5622"/>
              </a:lnSpc>
              <a:buFont typeface="Arial"/>
              <a:buChar char="•"/>
            </a:pPr>
            <a:r>
              <a:rPr lang="en-US" sz="401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Use building age as an additional factor, but not as the only explanation for prices.</a:t>
            </a:r>
          </a:p>
          <a:p>
            <a:pPr algn="l" marL="867146" indent="-433573" lvl="1">
              <a:lnSpc>
                <a:spcPts val="5622"/>
              </a:lnSpc>
              <a:buFont typeface="Arial"/>
              <a:buChar char="•"/>
            </a:pPr>
            <a:r>
              <a:rPr lang="en-US" sz="401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Remember that high sales activity does not always mean higher property prices.</a:t>
            </a:r>
          </a:p>
          <a:p>
            <a:pPr algn="l">
              <a:lnSpc>
                <a:spcPts val="5622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0481" y="4013348"/>
            <a:ext cx="12387037" cy="203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b="true" sz="11886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DAHWgntZMYY</dc:identifier>
  <dcterms:modified xsi:type="dcterms:W3CDTF">2011-08-01T06:04:30Z</dcterms:modified>
  <cp:revision>1</cp:revision>
  <dc:title>NYC Property Sales Analysis</dc:title>
</cp:coreProperties>
</file>